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4" r:id="rId4"/>
    <p:sldId id="275" r:id="rId5"/>
    <p:sldId id="272" r:id="rId6"/>
    <p:sldId id="273" r:id="rId7"/>
    <p:sldId id="276" r:id="rId8"/>
    <p:sldId id="277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F90B0-5A4A-4F6E-AC6C-FD945949CB69}" v="4" dt="2026-02-10T09:03:54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bjørn Skardhamar" userId="a33c437c-465e-42c1-b920-4fca17f18356" providerId="ADAL" clId="{3AC9633A-5280-441E-B1B6-8EBD4EE375F1}"/>
    <pc:docChg chg="undo custSel addSld delSld modSld">
      <pc:chgData name="Torbjørn Skardhamar" userId="a33c437c-465e-42c1-b920-4fca17f18356" providerId="ADAL" clId="{3AC9633A-5280-441E-B1B6-8EBD4EE375F1}" dt="2026-02-09T13:46:29.524" v="409" actId="20577"/>
      <pc:docMkLst>
        <pc:docMk/>
      </pc:docMkLst>
      <pc:sldChg chg="modSp mod">
        <pc:chgData name="Torbjørn Skardhamar" userId="a33c437c-465e-42c1-b920-4fca17f18356" providerId="ADAL" clId="{3AC9633A-5280-441E-B1B6-8EBD4EE375F1}" dt="2026-02-09T10:48:20.696" v="385" actId="20577"/>
        <pc:sldMkLst>
          <pc:docMk/>
          <pc:sldMk cId="2140341977" sldId="273"/>
        </pc:sldMkLst>
        <pc:spChg chg="mod">
          <ac:chgData name="Torbjørn Skardhamar" userId="a33c437c-465e-42c1-b920-4fca17f18356" providerId="ADAL" clId="{3AC9633A-5280-441E-B1B6-8EBD4EE375F1}" dt="2026-02-09T10:48:20.696" v="385" actId="20577"/>
          <ac:spMkLst>
            <pc:docMk/>
            <pc:sldMk cId="2140341977" sldId="273"/>
            <ac:spMk id="3" creationId="{FEE416D7-D382-0E5B-D664-2227B867E617}"/>
          </ac:spMkLst>
        </pc:spChg>
      </pc:sldChg>
      <pc:sldChg chg="modSp new mod">
        <pc:chgData name="Torbjørn Skardhamar" userId="a33c437c-465e-42c1-b920-4fca17f18356" providerId="ADAL" clId="{3AC9633A-5280-441E-B1B6-8EBD4EE375F1}" dt="2026-02-09T13:46:16.033" v="401" actId="20577"/>
        <pc:sldMkLst>
          <pc:docMk/>
          <pc:sldMk cId="3693139342" sldId="276"/>
        </pc:sldMkLst>
        <pc:spChg chg="mod">
          <ac:chgData name="Torbjørn Skardhamar" userId="a33c437c-465e-42c1-b920-4fca17f18356" providerId="ADAL" clId="{3AC9633A-5280-441E-B1B6-8EBD4EE375F1}" dt="2026-02-09T10:43:55.997" v="48" actId="20577"/>
          <ac:spMkLst>
            <pc:docMk/>
            <pc:sldMk cId="3693139342" sldId="276"/>
            <ac:spMk id="2" creationId="{B47DBDE1-EA45-E68E-CF64-A8225DFEB38E}"/>
          </ac:spMkLst>
        </pc:spChg>
        <pc:spChg chg="mod">
          <ac:chgData name="Torbjørn Skardhamar" userId="a33c437c-465e-42c1-b920-4fca17f18356" providerId="ADAL" clId="{3AC9633A-5280-441E-B1B6-8EBD4EE375F1}" dt="2026-02-09T13:46:16.033" v="401" actId="20577"/>
          <ac:spMkLst>
            <pc:docMk/>
            <pc:sldMk cId="3693139342" sldId="276"/>
            <ac:spMk id="3" creationId="{C45B2C8A-1379-5E2E-FCC3-0121D2A436ED}"/>
          </ac:spMkLst>
        </pc:spChg>
      </pc:sldChg>
      <pc:sldChg chg="modSp new mod">
        <pc:chgData name="Torbjørn Skardhamar" userId="a33c437c-465e-42c1-b920-4fca17f18356" providerId="ADAL" clId="{3AC9633A-5280-441E-B1B6-8EBD4EE375F1}" dt="2026-02-09T13:46:29.524" v="409" actId="20577"/>
        <pc:sldMkLst>
          <pc:docMk/>
          <pc:sldMk cId="1736597202" sldId="277"/>
        </pc:sldMkLst>
        <pc:spChg chg="mod">
          <ac:chgData name="Torbjørn Skardhamar" userId="a33c437c-465e-42c1-b920-4fca17f18356" providerId="ADAL" clId="{3AC9633A-5280-441E-B1B6-8EBD4EE375F1}" dt="2026-02-09T13:46:29.524" v="409" actId="20577"/>
          <ac:spMkLst>
            <pc:docMk/>
            <pc:sldMk cId="1736597202" sldId="277"/>
            <ac:spMk id="2" creationId="{93324C4A-F875-53CE-526A-01F146543602}"/>
          </ac:spMkLst>
        </pc:spChg>
      </pc:sldChg>
      <pc:sldChg chg="new del">
        <pc:chgData name="Torbjørn Skardhamar" userId="a33c437c-465e-42c1-b920-4fca17f18356" providerId="ADAL" clId="{3AC9633A-5280-441E-B1B6-8EBD4EE375F1}" dt="2026-02-09T10:48:28.524" v="386" actId="47"/>
        <pc:sldMkLst>
          <pc:docMk/>
          <pc:sldMk cId="3887446572" sldId="277"/>
        </pc:sldMkLst>
      </pc:sldChg>
    </pc:docChg>
  </pc:docChgLst>
  <pc:docChgLst>
    <pc:chgData name="Torbjørn Skardhamar" userId="a33c437c-465e-42c1-b920-4fca17f18356" providerId="ADAL" clId="{627AB3AA-207B-4D0D-99C9-6F522F361ED9}"/>
    <pc:docChg chg="custSel modSld">
      <pc:chgData name="Torbjørn Skardhamar" userId="a33c437c-465e-42c1-b920-4fca17f18356" providerId="ADAL" clId="{627AB3AA-207B-4D0D-99C9-6F522F361ED9}" dt="2026-02-10T09:03:54.320" v="732" actId="20577"/>
      <pc:docMkLst>
        <pc:docMk/>
      </pc:docMkLst>
      <pc:sldChg chg="modSp">
        <pc:chgData name="Torbjørn Skardhamar" userId="a33c437c-465e-42c1-b920-4fca17f18356" providerId="ADAL" clId="{627AB3AA-207B-4D0D-99C9-6F522F361ED9}" dt="2026-02-10T09:03:54.320" v="732" actId="20577"/>
        <pc:sldMkLst>
          <pc:docMk/>
          <pc:sldMk cId="3296378449" sldId="271"/>
        </pc:sldMkLst>
        <pc:spChg chg="mod">
          <ac:chgData name="Torbjørn Skardhamar" userId="a33c437c-465e-42c1-b920-4fca17f18356" providerId="ADAL" clId="{627AB3AA-207B-4D0D-99C9-6F522F361ED9}" dt="2026-02-10T09:03:54.320" v="732" actId="20577"/>
          <ac:spMkLst>
            <pc:docMk/>
            <pc:sldMk cId="3296378449" sldId="271"/>
            <ac:spMk id="3" creationId="{00000000-0000-0000-0000-000000000000}"/>
          </ac:spMkLst>
        </pc:spChg>
      </pc:sldChg>
      <pc:sldChg chg="modSp mod">
        <pc:chgData name="Torbjørn Skardhamar" userId="a33c437c-465e-42c1-b920-4fca17f18356" providerId="ADAL" clId="{627AB3AA-207B-4D0D-99C9-6F522F361ED9}" dt="2026-02-10T08:58:17.912" v="728" actId="20577"/>
        <pc:sldMkLst>
          <pc:docMk/>
          <pc:sldMk cId="1736597202" sldId="277"/>
        </pc:sldMkLst>
        <pc:spChg chg="mod">
          <ac:chgData name="Torbjørn Skardhamar" userId="a33c437c-465e-42c1-b920-4fca17f18356" providerId="ADAL" clId="{627AB3AA-207B-4D0D-99C9-6F522F361ED9}" dt="2026-02-10T08:58:17.912" v="728" actId="20577"/>
          <ac:spMkLst>
            <pc:docMk/>
            <pc:sldMk cId="1736597202" sldId="277"/>
            <ac:spMk id="3" creationId="{F803B1BB-679C-67F7-B6F8-1FEF36D01C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25AD-EE16-3FB9-66D3-A1EA48928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5A8CF-CB69-BD7B-274C-C4872F0C7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FD996-8805-F98D-FF7B-BB4A03AC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A3FF-2399-9346-0BE0-C11C9C12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12C2-9B3F-9C33-AE17-392BC47B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257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0762-6EB6-106C-52C5-F24CD5DB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6FEE7-4BC5-5ED0-C3E7-6EE768ACA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630F8-4FB9-6190-7EE7-AD522B74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303B2-C38D-E3BD-07E4-B3961D423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AA2B4-E11D-D85F-DCBB-E2B83D17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129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1191-F7DD-E5CE-2086-16C32075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F74C7-2796-E607-0D52-46FDD1BDE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05840-B201-5B2F-C041-C46832D2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0F3BD-B74C-44D3-F0DD-5D019E30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9CB98-3380-9B94-3336-6FEEC34C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149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DB02-0344-AA8C-C6AF-146A18F2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2C81E-5196-2FBA-2440-92F404ECC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34BB4-1F58-BC76-E59D-3E29200A0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B212C-AAB3-E04C-EB88-C16918E0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51E4B-91F3-9BC5-6ACA-3D4CC1E6F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C7C27-76F9-5AFC-6064-92A1C70A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1328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A432-5BE0-F049-8E12-DAA747A2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41D16-DA02-40B7-0699-03C685271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7410B-B0FF-A089-5B1F-7BE22E90C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29CC8-AD3B-5D20-9267-BC56F153D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42A10-FF88-08FD-642A-0B39BDBA7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D81E2-F256-392B-C950-E10D3502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37E8A-C819-34EF-E2BB-755C92FC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41C94-9659-D449-7502-FCD0CA0D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255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C0ED-8667-906C-6DAB-9CCB88A9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DBE25-3BFF-D3D8-48AB-41A9A9E2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E7A9A-5E86-8766-603A-66EF853B1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67579-CF04-D7D4-3FCD-8698E087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4708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310DC-4379-F1E5-EBB3-7952A323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CD99B-3D26-3629-D7A1-7CB3E34B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EBA40-683C-D146-52E1-3798B9C2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0622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6CAC-D191-2F9E-4E88-0DDDF67A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98E8-192E-A809-EE95-A24BAD897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9E4DA-5113-5FB9-84CB-790EE490F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6682A-1620-0365-9EB3-BCA12FCB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0B957-236E-DBD1-705D-1AE4D9272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8B962-63FD-B1C5-6622-BA205E95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719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131CD-7C69-DE7D-4F12-6D8C5B8F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5A25F-0F4E-7846-510F-C43DCB6D1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F246E-605A-F175-1973-4CCE79A60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BF2F9-5EF6-7522-3EA5-40B289C5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380C6-222E-DBB9-8BD3-36783A91C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4134F-F878-8E85-FC59-CFDDC7C1A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23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AE7A-14E1-1809-7FBD-19E53CAC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6FF4B-FC0B-69BF-3DC2-8D54F34C4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35C5A-ED65-CDB6-BD8F-90BB3ECD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C1FC6-F437-7C58-AD23-65CDE5D8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1A6B2-1E5C-0728-D4B7-197B9D6D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10603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DBFA07-5670-C6EB-26EF-F6534224E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ED5C7-8A3E-B712-3280-F9425C69E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F7DAF-D622-31F2-4005-281AE2A3D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C175-C051-CED2-23B1-4FAAA65B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94462-9575-0C57-8023-DA1C4313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9393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780C7-C88B-1565-348F-4CA21A7C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547EE-44A8-B38B-192F-87B699610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3A488-B411-BD7E-C961-5BD0E8E95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34926-085F-48E9-9B2C-998E3114E35C}" type="datetimeFigureOut">
              <a:rPr lang="nb-NO" smtClean="0"/>
              <a:t>10.02.2026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DCA69-27E5-BA7E-3056-361DD4834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B33F4-C499-AA0E-14B0-16F1E5DD3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9B8A9-DDED-4666-A1B1-CA0B1AF44E2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55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48A8-BB1C-4DC4-6693-A56227CD9E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Tuning av random </a:t>
            </a:r>
            <a:r>
              <a:rPr lang="nb-NO" dirty="0" err="1"/>
              <a:t>forest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DA046-6FE3-4F63-1858-3770DB988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SOS2901</a:t>
            </a:r>
          </a:p>
        </p:txBody>
      </p:sp>
    </p:spTree>
    <p:extLst>
      <p:ext uri="{BB962C8B-B14F-4D97-AF65-F5344CB8AC3E}">
        <p14:creationId xmlns:p14="http://schemas.microsoft.com/office/powerpoint/2010/main" val="34702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3755"/>
          </a:xfrm>
        </p:spPr>
        <p:txBody>
          <a:bodyPr>
            <a:normAutofit fontScale="90000"/>
          </a:bodyPr>
          <a:lstStyle/>
          <a:p>
            <a:r>
              <a:rPr lang="nb-NO" dirty="0"/>
              <a:t>Eksempel: «</a:t>
            </a:r>
            <a:r>
              <a:rPr lang="nb-NO" dirty="0" err="1"/>
              <a:t>Forecasting</a:t>
            </a:r>
            <a:r>
              <a:rPr lang="nb-NO" dirty="0"/>
              <a:t> </a:t>
            </a:r>
            <a:r>
              <a:rPr lang="nb-NO" dirty="0" err="1"/>
              <a:t>domestic</a:t>
            </a:r>
            <a:r>
              <a:rPr lang="nb-NO" dirty="0"/>
              <a:t> </a:t>
            </a:r>
            <a:r>
              <a:rPr lang="nb-NO" dirty="0" err="1"/>
              <a:t>violence</a:t>
            </a:r>
            <a:r>
              <a:rPr lang="nb-NO" dirty="0"/>
              <a:t>» </a:t>
            </a:r>
            <a:r>
              <a:rPr lang="nb-NO" sz="1800" dirty="0"/>
              <a:t>(Berk et al 2016)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9840"/>
            <a:ext cx="10515600" cy="4917123"/>
          </a:xfrm>
        </p:spPr>
        <p:txBody>
          <a:bodyPr/>
          <a:lstStyle/>
          <a:p>
            <a:r>
              <a:rPr lang="nb-NO" dirty="0"/>
              <a:t>«</a:t>
            </a:r>
            <a:r>
              <a:rPr lang="nb-NO" dirty="0" err="1"/>
              <a:t>Arraignment</a:t>
            </a:r>
            <a:r>
              <a:rPr lang="nb-NO" dirty="0"/>
              <a:t> </a:t>
            </a:r>
            <a:r>
              <a:rPr lang="nb-NO" dirty="0" err="1"/>
              <a:t>decision</a:t>
            </a:r>
            <a:r>
              <a:rPr lang="nb-NO" dirty="0"/>
              <a:t>» - ved arrest skal dommer </a:t>
            </a:r>
            <a:r>
              <a:rPr lang="nb-NO"/>
              <a:t>innen 48 </a:t>
            </a:r>
            <a:r>
              <a:rPr lang="nb-NO" dirty="0"/>
              <a:t>timer ta stilling til om det skal reises tiltale</a:t>
            </a:r>
            <a:br>
              <a:rPr lang="nb-NO" dirty="0"/>
            </a:br>
            <a:r>
              <a:rPr lang="nb-NO" dirty="0"/>
              <a:t>F.eks. kausjon eller fengsel frem til rettssak er aktuelle utfall. </a:t>
            </a:r>
          </a:p>
          <a:p>
            <a:pPr lvl="1"/>
            <a:r>
              <a:rPr lang="nb-NO" dirty="0"/>
              <a:t>Typisk sak avgjøres på ca. 10 minutter</a:t>
            </a:r>
          </a:p>
          <a:p>
            <a:pPr lvl="1"/>
            <a:r>
              <a:rPr lang="nb-NO" dirty="0"/>
              <a:t>Dommer har lite informasjon om personen utover hva som ligger i registeret</a:t>
            </a:r>
          </a:p>
          <a:p>
            <a:r>
              <a:rPr lang="nb-NO" dirty="0"/>
              <a:t>Dommeren </a:t>
            </a:r>
            <a:r>
              <a:rPr lang="nb-NO" b="1" dirty="0"/>
              <a:t>MÅ</a:t>
            </a:r>
            <a:r>
              <a:rPr lang="nb-NO" dirty="0"/>
              <a:t> ta en beslutning – gå fri eller fengsel?</a:t>
            </a:r>
          </a:p>
          <a:p>
            <a:pPr lvl="1"/>
            <a:r>
              <a:rPr lang="nb-NO" dirty="0"/>
              <a:t>Risiko for flukt og gjentakelsesfare </a:t>
            </a:r>
          </a:p>
          <a:p>
            <a:r>
              <a:rPr lang="nb-NO" dirty="0"/>
              <a:t>Spesifikk prediksjon – kun «</a:t>
            </a:r>
            <a:r>
              <a:rPr lang="nb-NO" dirty="0" err="1"/>
              <a:t>domestic</a:t>
            </a:r>
            <a:r>
              <a:rPr lang="nb-NO" dirty="0"/>
              <a:t> </a:t>
            </a:r>
            <a:r>
              <a:rPr lang="nb-NO" dirty="0" err="1"/>
              <a:t>violence</a:t>
            </a:r>
            <a:r>
              <a:rPr lang="nb-NO" dirty="0"/>
              <a:t>» </a:t>
            </a:r>
          </a:p>
          <a:p>
            <a:pPr lvl="1"/>
            <a:r>
              <a:rPr lang="nb-NO" dirty="0"/>
              <a:t>Trade-</a:t>
            </a:r>
            <a:r>
              <a:rPr lang="nb-NO" dirty="0" err="1"/>
              <a:t>off</a:t>
            </a:r>
            <a:r>
              <a:rPr lang="nb-NO" dirty="0"/>
              <a:t>: Unødvendig fengsling vs. trygghet for gjerningspersonens familie 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9637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C02D-8087-0FB4-1C5F-22ED0C55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Problemforståelse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609B-6194-7CC4-F98A-31BF108A1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NB! Dommeren MÅ ta stilling til enten fengsel eller ikke </a:t>
            </a:r>
          </a:p>
          <a:p>
            <a:r>
              <a:rPr lang="nb-NO" dirty="0"/>
              <a:t>Skjønnsbasert vurdering er ikke perfekt  </a:t>
            </a:r>
          </a:p>
          <a:p>
            <a:r>
              <a:rPr lang="nb-NO" dirty="0"/>
              <a:t>Løsningsforslag:</a:t>
            </a:r>
          </a:p>
          <a:p>
            <a:pPr lvl="1"/>
            <a:r>
              <a:rPr lang="nb-NO" dirty="0"/>
              <a:t>Bruke tidligere data på tilsvarende saker </a:t>
            </a:r>
          </a:p>
          <a:p>
            <a:pPr lvl="1"/>
            <a:r>
              <a:rPr lang="nb-NO" dirty="0"/>
              <a:t>Måle tilbakefall til ny sak med partnervold </a:t>
            </a:r>
          </a:p>
          <a:p>
            <a:pPr lvl="1"/>
            <a:r>
              <a:rPr lang="nb-NO" dirty="0"/>
              <a:t>Bruke erfaring fra tidligere data til å predikere for nye saker </a:t>
            </a:r>
          </a:p>
          <a:p>
            <a:pPr lvl="1"/>
            <a:r>
              <a:rPr lang="nb-NO" dirty="0"/>
              <a:t>Ta eksplisitt stilling til ønskede feilrater og tune modellen tilsvarende </a:t>
            </a:r>
          </a:p>
          <a:p>
            <a:pPr lvl="1"/>
            <a:r>
              <a:rPr lang="nb-NO" dirty="0"/>
              <a:t>Type algoritme: random </a:t>
            </a:r>
            <a:r>
              <a:rPr lang="nb-NO" dirty="0" err="1"/>
              <a:t>forest</a:t>
            </a:r>
            <a:r>
              <a:rPr lang="nb-NO" dirty="0"/>
              <a:t>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9079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543A-227C-47BB-FCFB-3737099E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Diskusjonspunkt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1FAE9-3AF3-2597-52A7-B3A1A1B69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b-NO" dirty="0"/>
              <a:t>Hva er akseptable feilrater av hver type? </a:t>
            </a:r>
          </a:p>
          <a:p>
            <a:pPr lvl="1"/>
            <a:r>
              <a:rPr lang="nb-NO" dirty="0"/>
              <a:t>Unødvendig fengslet (Falske positive) </a:t>
            </a:r>
            <a:r>
              <a:rPr lang="nb-NO" dirty="0" err="1"/>
              <a:t>vs</a:t>
            </a:r>
            <a:r>
              <a:rPr lang="nb-NO" dirty="0"/>
              <a:t> </a:t>
            </a:r>
            <a:br>
              <a:rPr lang="nb-NO" dirty="0"/>
            </a:br>
            <a:r>
              <a:rPr lang="nb-NO" dirty="0"/>
              <a:t>unødvendig gjentatt voldsoffer (Falske negative) </a:t>
            </a:r>
          </a:p>
          <a:p>
            <a:pPr lvl="1"/>
            <a:r>
              <a:rPr lang="nb-NO" dirty="0"/>
              <a:t>Er man virkelig «uskyldig inntil det motsatte er bevist»? </a:t>
            </a:r>
          </a:p>
          <a:p>
            <a:pPr lvl="1"/>
            <a:r>
              <a:rPr lang="nb-NO" dirty="0"/>
              <a:t>Er det virkelig slik at </a:t>
            </a:r>
            <a:r>
              <a:rPr lang="nb-NO" i="1" dirty="0"/>
              <a:t>«</a:t>
            </a:r>
            <a:r>
              <a:rPr lang="en-US" i="1" dirty="0"/>
              <a:t>It is better that ten guilty persons escape than that one innocent suffer.</a:t>
            </a:r>
            <a:r>
              <a:rPr lang="nb-NO" i="1" dirty="0"/>
              <a:t>»</a:t>
            </a:r>
            <a:r>
              <a:rPr lang="nb-NO" dirty="0"/>
              <a:t> (William Blackstone, 1893)</a:t>
            </a:r>
          </a:p>
          <a:p>
            <a:r>
              <a:rPr lang="nb-NO" dirty="0"/>
              <a:t>Løsning fra </a:t>
            </a:r>
            <a:r>
              <a:rPr lang="nb-NO" dirty="0" err="1"/>
              <a:t>Berk</a:t>
            </a:r>
            <a:r>
              <a:rPr lang="nb-NO" dirty="0"/>
              <a:t> et al (2016)</a:t>
            </a:r>
          </a:p>
          <a:p>
            <a:pPr lvl="1"/>
            <a:r>
              <a:rPr lang="nb-NO" dirty="0"/>
              <a:t>Ønsker tydelige asymmetriske feilrater </a:t>
            </a:r>
          </a:p>
          <a:p>
            <a:pPr lvl="1"/>
            <a:r>
              <a:rPr lang="nb-NO" dirty="0"/>
              <a:t>Etter diskusjoner med «stake holders»: </a:t>
            </a:r>
            <a:r>
              <a:rPr lang="nb-NO" b="1" dirty="0"/>
              <a:t>10 mot 1</a:t>
            </a:r>
            <a:r>
              <a:rPr lang="nb-NO" dirty="0"/>
              <a:t> </a:t>
            </a:r>
          </a:p>
          <a:p>
            <a:pPr lvl="1"/>
            <a:r>
              <a:rPr lang="nb-NO" dirty="0"/>
              <a:t>Altså: Godtar at 10 går </a:t>
            </a:r>
            <a:r>
              <a:rPr lang="nb-NO" b="1" dirty="0"/>
              <a:t>unødig</a:t>
            </a:r>
            <a:r>
              <a:rPr lang="nb-NO" dirty="0"/>
              <a:t> i fengsel per partner </a:t>
            </a:r>
            <a:r>
              <a:rPr lang="nb-NO" b="1" dirty="0"/>
              <a:t>unødig</a:t>
            </a:r>
            <a:r>
              <a:rPr lang="nb-NO" dirty="0"/>
              <a:t> blir utsatt for vold </a:t>
            </a:r>
          </a:p>
          <a:p>
            <a:r>
              <a:rPr lang="nb-NO" dirty="0"/>
              <a:t>Diskusjonspunkt: </a:t>
            </a:r>
          </a:p>
          <a:p>
            <a:pPr lvl="1"/>
            <a:r>
              <a:rPr lang="nb-NO" dirty="0"/>
              <a:t>Hvem er egentlig relevante «stake holders»? </a:t>
            </a:r>
          </a:p>
        </p:txBody>
      </p:sp>
    </p:spTree>
    <p:extLst>
      <p:ext uri="{BB962C8B-B14F-4D97-AF65-F5344CB8AC3E}">
        <p14:creationId xmlns:p14="http://schemas.microsoft.com/office/powerpoint/2010/main" val="141406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66" y="393326"/>
            <a:ext cx="11493973" cy="4808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37775" y="5386508"/>
                <a:ext cx="948978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cost</m:t>
                    </m:r>
                    <m:r>
                      <a:rPr lang="nb-NO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ratio</m:t>
                    </m:r>
                    <m:r>
                      <a:rPr lang="nb-NO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12936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1206</m:t>
                        </m:r>
                      </m:den>
                    </m:f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endParaRPr lang="nb-NO" dirty="0"/>
              </a:p>
              <a:p>
                <a:r>
                  <a:rPr lang="nb-NO" dirty="0"/>
                  <a:t>Godtar 10 unødvendig fengslet (feilaktig antatt gjentakelse med fysisk skade) </a:t>
                </a:r>
              </a:p>
              <a:p>
                <a:r>
                  <a:rPr lang="nb-NO" dirty="0"/>
                  <a:t>                      per feilaktig løslatt (feilaktig antatt uten gjentakelsesfare)</a:t>
                </a:r>
              </a:p>
              <a:p>
                <a:r>
                  <a:rPr lang="nb-NO" dirty="0" err="1"/>
                  <a:t>Cost</a:t>
                </a:r>
                <a:r>
                  <a:rPr lang="nb-NO" dirty="0"/>
                  <a:t> ratio er bestemt på forhånd, og prediksjonsmodellen er justert tilsvarende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75" y="5386508"/>
                <a:ext cx="9489781" cy="1200329"/>
              </a:xfrm>
              <a:prstGeom prst="rect">
                <a:avLst/>
              </a:prstGeom>
              <a:blipFill>
                <a:blip r:embed="rId3"/>
                <a:stretch>
                  <a:fillRect l="-578" t="-36041" b="-7107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4064854" y="2666360"/>
            <a:ext cx="4280007" cy="553250"/>
          </a:xfrm>
          <a:prstGeom prst="straightConnector1">
            <a:avLst/>
          </a:prstGeom>
          <a:ln w="57150">
            <a:solidFill>
              <a:srgbClr val="FF0000">
                <a:alpha val="61176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33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B7E3-6E6A-9029-FBC8-4A845BD5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Hvordan endre kostnader for random </a:t>
            </a:r>
            <a:r>
              <a:rPr lang="nb-NO" dirty="0" err="1"/>
              <a:t>forest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416D7-D382-0E5B-D664-2227B867E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Endre vekting av utfallskategoriene:</a:t>
            </a:r>
          </a:p>
          <a:p>
            <a:pPr lvl="1"/>
            <a:r>
              <a:rPr lang="nb-NO" b="1" dirty="0" err="1"/>
              <a:t>sampsize</a:t>
            </a:r>
            <a:r>
              <a:rPr lang="nb-NO" dirty="0"/>
              <a:t> =</a:t>
            </a:r>
          </a:p>
          <a:p>
            <a:pPr lvl="1"/>
            <a:r>
              <a:rPr lang="nb-NO" dirty="0" err="1"/>
              <a:t>classwt</a:t>
            </a:r>
            <a:r>
              <a:rPr lang="nb-NO" dirty="0"/>
              <a:t> =</a:t>
            </a:r>
          </a:p>
          <a:p>
            <a:pPr lvl="1"/>
            <a:r>
              <a:rPr lang="nb-NO" dirty="0" err="1"/>
              <a:t>weights</a:t>
            </a:r>
            <a:r>
              <a:rPr lang="nb-NO" dirty="0"/>
              <a:t> =</a:t>
            </a:r>
          </a:p>
          <a:p>
            <a:r>
              <a:rPr lang="nb-NO" dirty="0"/>
              <a:t>Vi fokuserer på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sampsize</a:t>
            </a:r>
            <a:r>
              <a:rPr lang="nb-NO" dirty="0"/>
              <a:t> </a:t>
            </a:r>
          </a:p>
          <a:p>
            <a:r>
              <a:rPr lang="nb-NO" dirty="0"/>
              <a:t>Påvirker hvordan </a:t>
            </a:r>
            <a:r>
              <a:rPr lang="nb-NO" i="1" dirty="0"/>
              <a:t>hvert enkelt tre</a:t>
            </a:r>
            <a:r>
              <a:rPr lang="nb-NO" dirty="0"/>
              <a:t> lages: hver enkelt </a:t>
            </a:r>
            <a:r>
              <a:rPr lang="nb-NO" dirty="0" err="1"/>
              <a:t>split</a:t>
            </a:r>
            <a:r>
              <a:rPr lang="nb-NO" dirty="0"/>
              <a:t> </a:t>
            </a:r>
          </a:p>
          <a:p>
            <a:pPr lvl="1"/>
            <a:r>
              <a:rPr lang="nb-NO" dirty="0"/>
              <a:t>Vekt opp/ned mulig utfall </a:t>
            </a:r>
          </a:p>
          <a:p>
            <a:pPr lvl="1"/>
            <a:r>
              <a:rPr lang="nb-NO" dirty="0"/>
              <a:t>Prøv ut forskjellige løsninger, til tilfredsstillende resultat </a:t>
            </a:r>
          </a:p>
          <a:p>
            <a:r>
              <a:rPr lang="nb-NO" dirty="0"/>
              <a:t>Kan gå på bekostning av noe. «</a:t>
            </a:r>
            <a:r>
              <a:rPr lang="nb-NO" dirty="0" err="1"/>
              <a:t>Accuracy</a:t>
            </a:r>
            <a:r>
              <a:rPr lang="nb-NO" dirty="0"/>
              <a:t>» går ned etc. </a:t>
            </a:r>
          </a:p>
        </p:txBody>
      </p:sp>
    </p:spTree>
    <p:extLst>
      <p:ext uri="{BB962C8B-B14F-4D97-AF65-F5344CB8AC3E}">
        <p14:creationId xmlns:p14="http://schemas.microsoft.com/office/powerpoint/2010/main" val="214034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BDE1-EA45-E68E-CF64-A8225DFE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Kan man tune klassifikasjonstrær og </a:t>
            </a:r>
            <a:r>
              <a:rPr lang="nb-NO" dirty="0" err="1"/>
              <a:t>bagging</a:t>
            </a:r>
            <a:r>
              <a:rPr lang="nb-NO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2C8A-1379-5E2E-FCC3-0121D2A43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Selvsagt </a:t>
            </a:r>
            <a:r>
              <a:rPr lang="nb-NO" dirty="0">
                <a:sym typeface="Wingdings" panose="05000000000000000000" pitchFamily="2" charset="2"/>
              </a:rPr>
              <a:t> </a:t>
            </a:r>
          </a:p>
          <a:p>
            <a:r>
              <a:rPr lang="nb-NO" dirty="0" err="1"/>
              <a:t>rpart</a:t>
            </a:r>
            <a:r>
              <a:rPr lang="nb-NO" dirty="0"/>
              <a:t>() kan spesifisere «Loss-</a:t>
            </a:r>
            <a:r>
              <a:rPr lang="nb-NO" dirty="0" err="1"/>
              <a:t>matrix</a:t>
            </a:r>
            <a:r>
              <a:rPr lang="nb-NO" dirty="0"/>
              <a:t>» som vekter utfallene forskjellig </a:t>
            </a:r>
          </a:p>
          <a:p>
            <a:pPr lvl="1"/>
            <a:r>
              <a:rPr lang="nb-NO" dirty="0"/>
              <a:t>Fungerer derfor også med </a:t>
            </a:r>
            <a:r>
              <a:rPr lang="nb-NO" dirty="0" err="1"/>
              <a:t>bagging</a:t>
            </a:r>
            <a:r>
              <a:rPr lang="nb-NO" dirty="0"/>
              <a:t> </a:t>
            </a:r>
          </a:p>
          <a:p>
            <a:endParaRPr lang="nb-NO" dirty="0"/>
          </a:p>
          <a:p>
            <a:r>
              <a:rPr lang="nb-NO" dirty="0"/>
              <a:t>…Men vi vektlegger ikke her tuning for de teknikkene 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9313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4C4A-F875-53CE-526A-01F146543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3B1BB-679C-67F7-B6F8-1FEF36D01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Datasettet </a:t>
            </a:r>
            <a:r>
              <a:rPr lang="nb-NO" dirty="0" err="1"/>
              <a:t>dropout.rds</a:t>
            </a:r>
            <a:r>
              <a:rPr lang="nb-NO" dirty="0"/>
              <a:t> inneholder informasjon om studenter ved et universitet, sosial bakgrunn og studieprogresjon </a:t>
            </a:r>
          </a:p>
          <a:p>
            <a:r>
              <a:rPr lang="nb-NO" dirty="0"/>
              <a:t>Se for deg at man skal sette i verk målrettede tiltak for å bedre gjennomføring </a:t>
            </a:r>
          </a:p>
          <a:p>
            <a:pPr lvl="1"/>
            <a:r>
              <a:rPr lang="nb-NO" dirty="0"/>
              <a:t>Velg selv en type tiltak</a:t>
            </a:r>
          </a:p>
          <a:p>
            <a:pPr lvl="1"/>
            <a:r>
              <a:rPr lang="nb-NO" dirty="0"/>
              <a:t>Er feil prediksjon av hver type like alvorlig? </a:t>
            </a:r>
          </a:p>
          <a:p>
            <a:pPr lvl="1"/>
            <a:r>
              <a:rPr lang="nb-NO" dirty="0"/>
              <a:t>Hvor mange FP per FN synes du er greit?  </a:t>
            </a:r>
          </a:p>
          <a:p>
            <a:r>
              <a:rPr lang="nb-NO" dirty="0"/>
              <a:t>Prediker frafall fra studiene (variabelen </a:t>
            </a:r>
            <a:r>
              <a:rPr lang="nb-NO" dirty="0" err="1"/>
              <a:t>dropout</a:t>
            </a:r>
            <a:r>
              <a:rPr lang="nb-NO" dirty="0"/>
              <a:t>) med random </a:t>
            </a:r>
            <a:r>
              <a:rPr lang="nb-NO" dirty="0" err="1"/>
              <a:t>forest</a:t>
            </a:r>
            <a:endParaRPr lang="nb-NO" dirty="0"/>
          </a:p>
          <a:p>
            <a:pPr lvl="1"/>
            <a:r>
              <a:rPr lang="nb-NO" dirty="0"/>
              <a:t>Prøv å oppnå ønskede feilrater (jf. ovenfor) </a:t>
            </a:r>
          </a:p>
          <a:p>
            <a:pPr lvl="1"/>
            <a:r>
              <a:rPr lang="nb-NO" dirty="0"/>
              <a:t>Hvordan påvirker tuning resultatene ellers? 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36597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493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Tuning av random forest</vt:lpstr>
      <vt:lpstr>Eksempel: «Forecasting domestic violence» (Berk et al 2016)</vt:lpstr>
      <vt:lpstr>Problemforståelse </vt:lpstr>
      <vt:lpstr>Diskusjonspunkt</vt:lpstr>
      <vt:lpstr>PowerPoint Presentation</vt:lpstr>
      <vt:lpstr>Hvordan endre kostnader for random forest</vt:lpstr>
      <vt:lpstr>Kan man tune klassifikasjonstrær og bagging?</vt:lpstr>
      <vt:lpstr>Oppgave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Torbjørn Skardhamar</dc:creator>
  <cp:lastModifiedBy>Torbjørn Skardhamar</cp:lastModifiedBy>
  <cp:revision>1</cp:revision>
  <dcterms:created xsi:type="dcterms:W3CDTF">2026-02-09T09:28:18Z</dcterms:created>
  <dcterms:modified xsi:type="dcterms:W3CDTF">2026-02-10T09:04:02Z</dcterms:modified>
</cp:coreProperties>
</file>